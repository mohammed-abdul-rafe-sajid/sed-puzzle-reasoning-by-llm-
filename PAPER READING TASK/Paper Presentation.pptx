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61" r:id="rId3"/>
    <p:sldId id="262" r:id="rId4"/>
    <p:sldId id="264" r:id="rId5"/>
    <p:sldId id="274" r:id="rId6"/>
    <p:sldId id="265" r:id="rId7"/>
    <p:sldId id="273" r:id="rId8"/>
    <p:sldId id="266" r:id="rId9"/>
    <p:sldId id="267" r:id="rId10"/>
    <p:sldId id="272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CC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2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3211D-2DAC-3F38-35BE-22F740EB8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768612-51E5-E19F-F758-FD50C8AA4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4AF8D-CB73-ED8B-95EE-5A5D10A96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5D2A-59DA-437F-B5D4-854240D6398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8F8BA-E45B-659B-98F5-15D1A5610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3722E-CFAE-0A34-9777-2F405CF26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237F-AD47-4D26-9917-A8A8C1B17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33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D108D-E570-4F92-A969-4210F8034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4091B-A4F8-A7E0-2454-D6D1547A0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FA07D-A43D-5E31-88CB-26C1E382C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5D2A-59DA-437F-B5D4-854240D6398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D674B-06BA-88B1-33C8-F6400F7BF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91365-080E-A993-376B-0D5725EB8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237F-AD47-4D26-9917-A8A8C1B17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07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B4A3F-24C6-41E5-084E-3BD7160D3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D047C-9698-9BAD-9494-E73DCBBF8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12DC1-5800-717D-ADD3-FC4283E57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5D2A-59DA-437F-B5D4-854240D6398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D0E2F-B34D-223E-B960-D3FAF1E8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10515-E5C4-67F4-66A7-D7B547C02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237F-AD47-4D26-9917-A8A8C1B17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890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83985-7299-6065-7E98-F4ECE7017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3AEEB-44F3-DAC2-0E67-0328C0A02F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41F71-BEB9-5161-BA8C-E5C2AFCEB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A9981-F7B9-2172-9849-14346BFD8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5D2A-59DA-437F-B5D4-854240D6398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5CFB1-25F3-4DC0-3047-98C348464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AE7E9-AFF6-D641-FDAD-9BBA2561B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237F-AD47-4D26-9917-A8A8C1B17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295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687AB-3AEB-26D8-C78B-BD9D55B97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B12CD-06B7-8D2E-E83B-3B2E4BB2D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6A8D4-5B34-2D4C-A28B-10C3C79A0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A978A5-1C58-2CF9-9A6B-1B6F534970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FE07F2-FB37-B2A3-5AAB-A6FCCADE72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328CEE-0532-F7C9-892D-4C618D40F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5D2A-59DA-437F-B5D4-854240D6398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70E642-0FD8-941B-2712-3AE28D2C2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74B6A3-9C50-F8CF-39BF-193032ED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237F-AD47-4D26-9917-A8A8C1B17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60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443F-9D21-3C82-FF97-726F3F428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1FA335-9314-1788-B275-A58F66C7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5D2A-59DA-437F-B5D4-854240D6398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2965CA-CFFF-D109-49CF-221160C63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0D539-5278-BB61-9569-AF57B4CB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237F-AD47-4D26-9917-A8A8C1B17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432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35AD15-F303-AA6D-AA62-170B50BBE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5D2A-59DA-437F-B5D4-854240D6398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CB2C21-3859-D35E-7CC9-7FD51E2CC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C1A47-4204-BA2D-CE75-2B0A64639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237F-AD47-4D26-9917-A8A8C1B17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386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CD48B-3496-E67F-A8DD-91C11DA12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CA588-0300-CE5A-5262-74E1628E0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3EAAA-0BAD-86FF-2083-6309EA1C0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CE885-2258-16FD-DE07-87911FF4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5D2A-59DA-437F-B5D4-854240D6398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10A0A-D840-741E-98BB-8385A1A48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D9C18-38C4-239A-F393-EB4DC21B7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237F-AD47-4D26-9917-A8A8C1B17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22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3997F-3790-0EBB-A248-2D75D680F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A096BE-4247-D1DC-8A68-9264D84B1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09771-4C7A-6D76-0F01-41A44E091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86985-B2CF-6138-765D-7C1BFFEC9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5D2A-59DA-437F-B5D4-854240D6398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D7FAF-E40C-E7D5-ED9B-EA9979D46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97E40-0989-BEE8-C9D5-67C8BBDCC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237F-AD47-4D26-9917-A8A8C1B17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369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8636E-305F-186C-6216-30FEE809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3AA78-63F9-B1BE-251D-2F2D16325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D20F6-781C-2E20-12D1-3AF0140DC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5D2A-59DA-437F-B5D4-854240D6398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B8A1D-2CCE-04D3-41C6-0DCA1C252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78454-0022-58D2-CF77-542A6389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237F-AD47-4D26-9917-A8A8C1B17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053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262CCC-4F70-C081-9994-BC26C2DEAA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D7374-647B-87F1-53E4-F623B0133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AEEF7-1F3F-363C-FCF7-9F799907E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5D2A-59DA-437F-B5D4-854240D6398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9B7C2-A775-B864-F29C-D56AC9E8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D47EC-5372-E893-0C81-BFB3F41C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237F-AD47-4D26-9917-A8A8C1B17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485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rgbClr val="00FFCC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D42960-68DC-8DB5-99C6-56959473E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6AA0-3E87-CB37-7317-022F8C95B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DCE48-2F4A-1C4F-5ED4-40A2A7146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65D2A-59DA-437F-B5D4-854240D6398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06966-1353-6B71-9EF5-A18E5855A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62052-BB69-4A37-CEB4-48046CEB6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40237F-AD47-4D26-9917-A8A8C1B17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147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1F8BBE-855F-7CE4-2059-B08C46252AFA}"/>
              </a:ext>
            </a:extLst>
          </p:cNvPr>
          <p:cNvSpPr/>
          <p:nvPr/>
        </p:nvSpPr>
        <p:spPr>
          <a:xfrm>
            <a:off x="2166799" y="814307"/>
            <a:ext cx="909736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Machines Prove Geometry Like Humans?</a:t>
            </a:r>
            <a:endParaRPr lang="en-US" sz="3600" b="1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3B2FBC-2CE6-85C4-D359-8B3CF4864285}"/>
              </a:ext>
            </a:extLst>
          </p:cNvPr>
          <p:cNvSpPr/>
          <p:nvPr/>
        </p:nvSpPr>
        <p:spPr>
          <a:xfrm>
            <a:off x="252107" y="2248877"/>
            <a:ext cx="11687815" cy="39703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Paper Reading Task:</a:t>
            </a:r>
          </a:p>
          <a:p>
            <a:pPr algn="ctr"/>
            <a:r>
              <a:rPr lang="en-US" sz="3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“Solving Olympiad geometry without human demonstrations”</a:t>
            </a:r>
          </a:p>
          <a:p>
            <a:pPr algn="ctr"/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</a:p>
          <a:p>
            <a:pPr algn="ctr"/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Mohammed Abdul Rafe Sajid</a:t>
            </a:r>
          </a:p>
          <a:p>
            <a:pPr algn="ctr"/>
            <a:endParaRPr lang="en-US" sz="36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731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8209A-505A-582B-E9D3-0A1E4D425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12F644-72ED-B1E8-F607-FAB6D166F51E}"/>
              </a:ext>
            </a:extLst>
          </p:cNvPr>
          <p:cNvSpPr/>
          <p:nvPr/>
        </p:nvSpPr>
        <p:spPr>
          <a:xfrm>
            <a:off x="501313" y="395158"/>
            <a:ext cx="539686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3600" b="1" dirty="0"/>
              <a:t>What is </a:t>
            </a:r>
            <a:r>
              <a:rPr lang="en-IN" sz="3600" b="1" dirty="0" err="1"/>
              <a:t>AlphaGeometry</a:t>
            </a:r>
            <a:r>
              <a:rPr lang="en-IN" sz="3600" b="1" dirty="0"/>
              <a:t>?</a:t>
            </a:r>
            <a:endParaRPr lang="en-US" sz="3600" b="1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A0FD2-00BF-1ABD-0EE6-0FF0102CF574}"/>
              </a:ext>
            </a:extLst>
          </p:cNvPr>
          <p:cNvSpPr/>
          <p:nvPr/>
        </p:nvSpPr>
        <p:spPr>
          <a:xfrm>
            <a:off x="306757" y="1473631"/>
            <a:ext cx="5396864" cy="526297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/>
              <a:t>AlphaGeometry</a:t>
            </a:r>
            <a:r>
              <a:rPr lang="en-US" sz="2400" dirty="0"/>
              <a:t> is an AI system designed to solve Olympiad-level geometry problems by constructing complete and logically verified proofs.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Unlike standard language models that generate text-based answers, </a:t>
            </a:r>
            <a:r>
              <a:rPr lang="en-US" sz="2400" dirty="0" err="1"/>
              <a:t>AlphaGeometry</a:t>
            </a:r>
            <a:r>
              <a:rPr lang="en-US" sz="2400" dirty="0"/>
              <a:t> produces step-by-step geometric proofs where every step is checked using formal rules.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It combines learning-based intuition with strict symbolic verification, allowing it to reason accurately over long and complex proof chains.</a:t>
            </a:r>
          </a:p>
        </p:txBody>
      </p:sp>
      <p:pic>
        <p:nvPicPr>
          <p:cNvPr id="8" name="Picture 7" descr="A close-up of a blue background&#10;&#10;AI-generated content may be incorrect.">
            <a:extLst>
              <a:ext uri="{FF2B5EF4-FFF2-40B4-BE49-F238E27FC236}">
                <a16:creationId xmlns:a16="http://schemas.microsoft.com/office/drawing/2014/main" id="{E971B438-9ABF-CE45-3F9C-C0050702D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620" y="1189822"/>
            <a:ext cx="6370867" cy="490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62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E7C24-5AF7-9C51-F288-889B065C6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D001DB-244B-3B8F-B520-53A645CDAC74}"/>
              </a:ext>
            </a:extLst>
          </p:cNvPr>
          <p:cNvSpPr/>
          <p:nvPr/>
        </p:nvSpPr>
        <p:spPr>
          <a:xfrm>
            <a:off x="6270161" y="780897"/>
            <a:ext cx="506478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3600" b="1" dirty="0"/>
              <a:t>Why is </a:t>
            </a:r>
            <a:r>
              <a:rPr lang="en-IN" sz="3600" b="1" dirty="0" err="1"/>
              <a:t>AlphaGeometry</a:t>
            </a:r>
            <a:r>
              <a:rPr lang="en-IN" sz="3600" b="1" dirty="0"/>
              <a:t> </a:t>
            </a:r>
          </a:p>
          <a:p>
            <a:pPr algn="ctr"/>
            <a:r>
              <a:rPr lang="en-IN" sz="3600" b="1" dirty="0"/>
              <a:t>Surprising?</a:t>
            </a:r>
            <a:endParaRPr lang="en-US" sz="3600" b="1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CDC0CE-7578-9D1F-9503-7C45639C7891}"/>
              </a:ext>
            </a:extLst>
          </p:cNvPr>
          <p:cNvSpPr/>
          <p:nvPr/>
        </p:nvSpPr>
        <p:spPr>
          <a:xfrm>
            <a:off x="192972" y="612844"/>
            <a:ext cx="4948345" cy="563231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dirty="0"/>
              <a:t>• Modern large language models like GPT-4 are extremely powerful, yet they fail to solve Olympiad-level geometry problems reliably.</a:t>
            </a:r>
          </a:p>
          <a:p>
            <a:br>
              <a:rPr lang="en-US" sz="2000" dirty="0"/>
            </a:br>
            <a:r>
              <a:rPr lang="en-US" sz="2000" dirty="0"/>
              <a:t>• Geometry proofs require exact logical correctness, where even a single wrong step invalidates the entire solution.</a:t>
            </a:r>
          </a:p>
          <a:p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dirty="0" err="1"/>
              <a:t>AlphaGeometry</a:t>
            </a:r>
            <a:r>
              <a:rPr lang="en-US" sz="2000" dirty="0"/>
              <a:t> solves 25 out of 30 Olympiad geometry problems under competition time limits.</a:t>
            </a:r>
          </a:p>
          <a:p>
            <a:br>
              <a:rPr lang="en-US" sz="2000" dirty="0"/>
            </a:br>
            <a:r>
              <a:rPr lang="en-US" sz="2000" dirty="0"/>
              <a:t>• This performance is close to that of an average human gold medalist and far beyond previous AI systems.</a:t>
            </a:r>
            <a:br>
              <a:rPr lang="en-US" sz="2000" dirty="0"/>
            </a:br>
            <a:r>
              <a:rPr lang="en-US" sz="2000" dirty="0"/>
              <a:t>• This raises an important question: </a:t>
            </a:r>
            <a:r>
              <a:rPr lang="en-US" sz="2000" b="1" dirty="0"/>
              <a:t>what makes </a:t>
            </a:r>
            <a:r>
              <a:rPr lang="en-US" sz="2000" b="1" dirty="0" err="1"/>
              <a:t>AlphaGeometry</a:t>
            </a:r>
            <a:r>
              <a:rPr lang="en-US" sz="2000" b="1" dirty="0"/>
              <a:t> succeed where pure language models fail?</a:t>
            </a:r>
          </a:p>
        </p:txBody>
      </p:sp>
      <p:pic>
        <p:nvPicPr>
          <p:cNvPr id="6" name="Picture 5" descr="A graph of different colors and numbers&#10;&#10;AI-generated content may be incorrect.">
            <a:extLst>
              <a:ext uri="{FF2B5EF4-FFF2-40B4-BE49-F238E27FC236}">
                <a16:creationId xmlns:a16="http://schemas.microsoft.com/office/drawing/2014/main" id="{FFA1601D-DB9E-478E-D740-D510D1EF7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388" y="1981227"/>
            <a:ext cx="7366612" cy="481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4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6E1D-073C-ED4C-1A4A-FD31AE526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21B45B-C9F2-0831-6D06-C4E161D9252B}"/>
              </a:ext>
            </a:extLst>
          </p:cNvPr>
          <p:cNvSpPr/>
          <p:nvPr/>
        </p:nvSpPr>
        <p:spPr>
          <a:xfrm>
            <a:off x="4264888" y="300314"/>
            <a:ext cx="336662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IDEA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6A5B43-3C40-5F68-683A-9F7CAF80DCEE}"/>
              </a:ext>
            </a:extLst>
          </p:cNvPr>
          <p:cNvSpPr/>
          <p:nvPr/>
        </p:nvSpPr>
        <p:spPr>
          <a:xfrm>
            <a:off x="141391" y="1069755"/>
            <a:ext cx="11694133" cy="526297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 err="1"/>
              <a:t>AlphaGeometry</a:t>
            </a:r>
            <a:r>
              <a:rPr lang="en-US" sz="2800" dirty="0"/>
              <a:t> combines: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800" dirty="0"/>
              <a:t>a </a:t>
            </a:r>
            <a:r>
              <a:rPr lang="en-US" sz="2800" b="1" dirty="0"/>
              <a:t>neural model</a:t>
            </a:r>
            <a:r>
              <a:rPr lang="en-US" sz="2800" dirty="0"/>
              <a:t> (to suggest ideas)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800" dirty="0"/>
              <a:t>a </a:t>
            </a:r>
            <a:r>
              <a:rPr lang="en-US" sz="2800" b="1" dirty="0"/>
              <a:t>symbolic engine</a:t>
            </a:r>
            <a:r>
              <a:rPr lang="en-US" sz="2800" dirty="0"/>
              <a:t> (to guarantee correctness)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It learns </a:t>
            </a:r>
            <a:r>
              <a:rPr lang="en-US" sz="2800" b="1" dirty="0"/>
              <a:t>without human-written proofs</a:t>
            </a: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It is trained on </a:t>
            </a:r>
            <a:r>
              <a:rPr lang="en-US" sz="2800" b="1" dirty="0"/>
              <a:t>100 million synthetic geometry problems (self generated)</a:t>
            </a:r>
          </a:p>
          <a:p>
            <a:endParaRPr lang="en-US" sz="2800" dirty="0"/>
          </a:p>
          <a:p>
            <a:r>
              <a:rPr lang="en-US" sz="2800" dirty="0"/>
              <a:t>Symbolic Engine Consists of </a:t>
            </a:r>
          </a:p>
          <a:p>
            <a:r>
              <a:rPr lang="en-US" sz="2800" dirty="0"/>
              <a:t>1. </a:t>
            </a:r>
            <a:r>
              <a:rPr lang="en-US" sz="2800" b="1" dirty="0"/>
              <a:t>Deductive Database </a:t>
            </a:r>
            <a:r>
              <a:rPr lang="en-US" sz="2800" dirty="0"/>
              <a:t>(DD): responsible for deriving new geometric facts using formal rules</a:t>
            </a:r>
          </a:p>
          <a:p>
            <a:r>
              <a:rPr lang="en-US" sz="2800" dirty="0"/>
              <a:t>2. </a:t>
            </a:r>
            <a:r>
              <a:rPr lang="en-US" sz="2800" b="1" dirty="0"/>
              <a:t>Algebraic Reasoning </a:t>
            </a:r>
            <a:r>
              <a:rPr lang="en-US" sz="2800" dirty="0"/>
              <a:t>(AR) is responsible for checking consistency and validity of those facts using Algebraic constraints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6BA626-8A15-677A-F5F3-A53999241CAB}"/>
              </a:ext>
            </a:extLst>
          </p:cNvPr>
          <p:cNvSpPr/>
          <p:nvPr/>
        </p:nvSpPr>
        <p:spPr>
          <a:xfrm>
            <a:off x="7631515" y="1505801"/>
            <a:ext cx="382027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 called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Neurosymbolic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3760392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language model&#10;&#10;AI-generated content may be incorrect.">
            <a:extLst>
              <a:ext uri="{FF2B5EF4-FFF2-40B4-BE49-F238E27FC236}">
                <a16:creationId xmlns:a16="http://schemas.microsoft.com/office/drawing/2014/main" id="{FBD4A4F6-6379-6FA9-0D1C-8CA0DC242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093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CB1BC-08C7-E30E-26F0-8B15B16F5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FA5A92-BCC6-9EA2-0BF8-E94CAE747804}"/>
              </a:ext>
            </a:extLst>
          </p:cNvPr>
          <p:cNvSpPr/>
          <p:nvPr/>
        </p:nvSpPr>
        <p:spPr>
          <a:xfrm>
            <a:off x="4200374" y="395158"/>
            <a:ext cx="350717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/>
              <a:t>METHADOLOGY</a:t>
            </a:r>
            <a:endParaRPr lang="en-US" sz="3600" b="1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39BF4D-7FEC-4642-D50C-AB00E194CAEB}"/>
              </a:ext>
            </a:extLst>
          </p:cNvPr>
          <p:cNvSpPr/>
          <p:nvPr/>
        </p:nvSpPr>
        <p:spPr>
          <a:xfrm>
            <a:off x="337355" y="1164134"/>
            <a:ext cx="9938987" cy="569386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1" dirty="0"/>
              <a:t>How </a:t>
            </a:r>
            <a:r>
              <a:rPr lang="en-US" sz="2800" b="1" dirty="0" err="1"/>
              <a:t>AlphaGeometry</a:t>
            </a:r>
            <a:r>
              <a:rPr lang="en-US" sz="2800" b="1" dirty="0"/>
              <a:t> Actually Solves a Problem?</a:t>
            </a:r>
          </a:p>
          <a:p>
            <a:endParaRPr lang="en-US" sz="2800" b="1" dirty="0"/>
          </a:p>
          <a:p>
            <a:r>
              <a:rPr lang="en-US" sz="2800" dirty="0"/>
              <a:t>1. Symbolic engine tries to prove the theorem</a:t>
            </a:r>
          </a:p>
          <a:p>
            <a:r>
              <a:rPr lang="en-US" sz="2800" dirty="0"/>
              <a:t>2. If stuck → neural model suggests an </a:t>
            </a:r>
            <a:r>
              <a:rPr lang="en-US" sz="2800" b="1" dirty="0"/>
              <a:t>auxiliary construction</a:t>
            </a:r>
            <a:endParaRPr lang="en-US" sz="2800" dirty="0"/>
          </a:p>
          <a:p>
            <a:r>
              <a:rPr lang="en-US" sz="2800" dirty="0"/>
              <a:t>3. Symbolic engine verifies it</a:t>
            </a:r>
          </a:p>
          <a:p>
            <a:r>
              <a:rPr lang="en-US" sz="2800" dirty="0"/>
              <a:t>4. Loop continues until solved or exhausted</a:t>
            </a:r>
          </a:p>
          <a:p>
            <a:r>
              <a:rPr lang="en-US" sz="2800" b="1" i="1" dirty="0">
                <a:solidFill>
                  <a:srgbClr val="FF0000"/>
                </a:solidFill>
              </a:rPr>
              <a:t>Auxiliary construction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= adding a helpful point/line not mentioned originally. Just like + and –  sin theta in trigonometry to simplify in a form. </a:t>
            </a:r>
          </a:p>
          <a:p>
            <a:endParaRPr lang="en-US" sz="2800" dirty="0"/>
          </a:p>
          <a:p>
            <a:r>
              <a:rPr lang="en-US" sz="2800" b="1" dirty="0"/>
              <a:t>ANALOGY:</a:t>
            </a:r>
          </a:p>
          <a:p>
            <a:r>
              <a:rPr lang="en-US" sz="2800" dirty="0"/>
              <a:t>“Neural model is a creative student, and Symbolic model is teacher which checks the rationale and validity”</a:t>
            </a:r>
          </a:p>
        </p:txBody>
      </p:sp>
    </p:spTree>
    <p:extLst>
      <p:ext uri="{BB962C8B-B14F-4D97-AF65-F5344CB8AC3E}">
        <p14:creationId xmlns:p14="http://schemas.microsoft.com/office/powerpoint/2010/main" val="2934311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7EDA756B-0F0D-7ABA-C0BA-F3F722C51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9511"/>
            <a:ext cx="12192000" cy="383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809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24336-9F9E-40EA-7DF6-DD14935F2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D6532F-ACB2-7646-E4E5-41DD95784EC7}"/>
              </a:ext>
            </a:extLst>
          </p:cNvPr>
          <p:cNvSpPr/>
          <p:nvPr/>
        </p:nvSpPr>
        <p:spPr>
          <a:xfrm>
            <a:off x="1859606" y="395158"/>
            <a:ext cx="975773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1" dirty="0"/>
              <a:t>Why Synthetic Data Is the Real Breakthrough?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51455B-2FF9-E97A-8982-033B22723C44}"/>
              </a:ext>
            </a:extLst>
          </p:cNvPr>
          <p:cNvSpPr/>
          <p:nvPr/>
        </p:nvSpPr>
        <p:spPr>
          <a:xfrm>
            <a:off x="1126506" y="1216783"/>
            <a:ext cx="9938987" cy="526297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dirty="0"/>
              <a:t>• Writing millions of correct geometry proofs by humans is practically impossible</a:t>
            </a:r>
            <a:br>
              <a:rPr lang="en-US" sz="2800" dirty="0"/>
            </a:br>
            <a:r>
              <a:rPr lang="en-US" sz="2800" dirty="0"/>
              <a:t>• </a:t>
            </a:r>
            <a:r>
              <a:rPr lang="en-US" sz="2800" dirty="0" err="1"/>
              <a:t>AlphaGeometry</a:t>
            </a:r>
            <a:r>
              <a:rPr lang="en-US" sz="2800" dirty="0"/>
              <a:t> avoids this by generating its own geometry worlds from scratch</a:t>
            </a:r>
            <a:br>
              <a:rPr lang="en-US" sz="2800" dirty="0"/>
            </a:br>
            <a:r>
              <a:rPr lang="en-US" sz="2800" dirty="0"/>
              <a:t>• It starts with valid geometric structures and derives all possible relationships</a:t>
            </a:r>
            <a:br>
              <a:rPr lang="en-US" sz="2800" dirty="0"/>
            </a:br>
            <a:r>
              <a:rPr lang="en-US" sz="2800" dirty="0"/>
              <a:t>• From these proofs, it works backward to create solvable geometry problems</a:t>
            </a:r>
            <a:br>
              <a:rPr lang="en-US" sz="2800" dirty="0"/>
            </a:br>
            <a:r>
              <a:rPr lang="en-US" sz="2800" dirty="0"/>
              <a:t>• This removes dependence on human demonstrations and avoids data scarcity</a:t>
            </a:r>
            <a:br>
              <a:rPr lang="en-US" sz="2800" dirty="0"/>
            </a:br>
            <a:r>
              <a:rPr lang="en-US" sz="2800" dirty="0"/>
              <a:t>• Learning is flipped: instead of learning from humans, the system learns by discovering</a:t>
            </a:r>
          </a:p>
        </p:txBody>
      </p:sp>
    </p:spTree>
    <p:extLst>
      <p:ext uri="{BB962C8B-B14F-4D97-AF65-F5344CB8AC3E}">
        <p14:creationId xmlns:p14="http://schemas.microsoft.com/office/powerpoint/2010/main" val="2483958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73001-A574-50DE-65AD-0ADB2F2F7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705AB9-DB8D-31D5-0174-6A4D504AA761}"/>
              </a:ext>
            </a:extLst>
          </p:cNvPr>
          <p:cNvSpPr/>
          <p:nvPr/>
        </p:nvSpPr>
        <p:spPr>
          <a:xfrm>
            <a:off x="4986754" y="901934"/>
            <a:ext cx="221849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IN" sz="3600" b="1" dirty="0"/>
              <a:t>Strengths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364860-6C0F-28A5-AF8C-811BE9DD5718}"/>
              </a:ext>
            </a:extLst>
          </p:cNvPr>
          <p:cNvSpPr/>
          <p:nvPr/>
        </p:nvSpPr>
        <p:spPr>
          <a:xfrm>
            <a:off x="1449372" y="1659285"/>
            <a:ext cx="9938987" cy="35394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dirty="0"/>
              <a:t>•  Produces fully machine-verifiable geometry proofs</a:t>
            </a:r>
            <a:br>
              <a:rPr lang="en-US" sz="2800" dirty="0"/>
            </a:br>
            <a:r>
              <a:rPr lang="en-US" sz="2800" dirty="0"/>
              <a:t>•  Every reasoning step is logically checked, eliminating hallucinations</a:t>
            </a:r>
            <a:br>
              <a:rPr lang="en-US" sz="2800" dirty="0"/>
            </a:br>
            <a:r>
              <a:rPr lang="en-US" sz="2800" dirty="0"/>
              <a:t>• Does not rely on any human-written proof data</a:t>
            </a:r>
            <a:br>
              <a:rPr lang="en-US" sz="2800" dirty="0"/>
            </a:br>
            <a:r>
              <a:rPr lang="en-US" sz="2800" dirty="0"/>
              <a:t>• Handles long chains of reasoning that require strict correctness</a:t>
            </a:r>
            <a:br>
              <a:rPr lang="en-US" sz="2800" dirty="0"/>
            </a:br>
            <a:r>
              <a:rPr lang="en-US" sz="2800" dirty="0"/>
              <a:t>• Combines creative idea generation with formal verification</a:t>
            </a:r>
            <a:br>
              <a:rPr lang="en-US" sz="2800" dirty="0"/>
            </a:br>
            <a:r>
              <a:rPr lang="en-US" sz="2800" dirty="0"/>
              <a:t>• Produces proofs that are both correct and human-readable</a:t>
            </a:r>
          </a:p>
        </p:txBody>
      </p:sp>
    </p:spTree>
    <p:extLst>
      <p:ext uri="{BB962C8B-B14F-4D97-AF65-F5344CB8AC3E}">
        <p14:creationId xmlns:p14="http://schemas.microsoft.com/office/powerpoint/2010/main" val="339395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00729-12B4-CED0-1CC2-AF40D0EC6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D8AB71-C976-B110-A73D-2C1C546EC41E}"/>
              </a:ext>
            </a:extLst>
          </p:cNvPr>
          <p:cNvSpPr/>
          <p:nvPr/>
        </p:nvSpPr>
        <p:spPr>
          <a:xfrm>
            <a:off x="4820875" y="451429"/>
            <a:ext cx="255025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IN" sz="3600" b="1" dirty="0"/>
              <a:t>Limitations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5B9434-7D35-7422-EBC4-B111C0D41CB9}"/>
              </a:ext>
            </a:extLst>
          </p:cNvPr>
          <p:cNvSpPr/>
          <p:nvPr/>
        </p:nvSpPr>
        <p:spPr>
          <a:xfrm>
            <a:off x="1026672" y="1443841"/>
            <a:ext cx="9938987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dirty="0"/>
              <a:t>• Designed specifically for geometry and does not generalize to other areas of mathematics (domain specific)</a:t>
            </a:r>
            <a:br>
              <a:rPr lang="en-US" sz="2800" dirty="0"/>
            </a:br>
            <a:r>
              <a:rPr lang="en-US" sz="2800" dirty="0"/>
              <a:t>• Requires extensive hand-engineered symbolic rules and domain knowledge</a:t>
            </a:r>
            <a:br>
              <a:rPr lang="en-US" sz="2800" dirty="0"/>
            </a:br>
            <a:r>
              <a:rPr lang="en-US" sz="2800" dirty="0"/>
              <a:t>• Does not naturally extend to informal or natural-language reasoning</a:t>
            </a:r>
            <a:br>
              <a:rPr lang="en-US" sz="2800" dirty="0"/>
            </a:br>
            <a:r>
              <a:rPr lang="en-US" sz="2800" dirty="0"/>
              <a:t>• Success comes from narrowing the problem domain rather than solving general reasoning</a:t>
            </a:r>
            <a:br>
              <a:rPr lang="en-US" sz="2800" dirty="0"/>
            </a:br>
            <a:r>
              <a:rPr lang="en-US" sz="2800" dirty="0"/>
              <a:t>• Highlights that strong performance is still task-dependent</a:t>
            </a:r>
          </a:p>
        </p:txBody>
      </p:sp>
    </p:spTree>
    <p:extLst>
      <p:ext uri="{BB962C8B-B14F-4D97-AF65-F5344CB8AC3E}">
        <p14:creationId xmlns:p14="http://schemas.microsoft.com/office/powerpoint/2010/main" val="403838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1A118-AF29-3222-73FD-80E018F03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DFF284-E6D4-9F2B-037A-C4B7F3AAA752}"/>
              </a:ext>
            </a:extLst>
          </p:cNvPr>
          <p:cNvSpPr/>
          <p:nvPr/>
        </p:nvSpPr>
        <p:spPr>
          <a:xfrm>
            <a:off x="796162" y="338088"/>
            <a:ext cx="1106597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1" dirty="0"/>
              <a:t>Slight Relation I observed with my project sed puzzle</a:t>
            </a:r>
            <a:endParaRPr lang="en-IN" sz="36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561413-E507-A69E-973D-ECD1CED1F511}"/>
              </a:ext>
            </a:extLst>
          </p:cNvPr>
          <p:cNvSpPr/>
          <p:nvPr/>
        </p:nvSpPr>
        <p:spPr>
          <a:xfrm>
            <a:off x="984469" y="1041489"/>
            <a:ext cx="9938987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dirty="0"/>
              <a:t>• In my string-rewriting puzzle experiments, LLMs often failed due to invalid transitions</a:t>
            </a:r>
            <a:br>
              <a:rPr lang="en-US" sz="2800" dirty="0"/>
            </a:br>
            <a:r>
              <a:rPr lang="en-US" sz="2800" dirty="0"/>
              <a:t>• Early mistakes in reasoning frequently made later steps impossible to recover</a:t>
            </a:r>
            <a:br>
              <a:rPr lang="en-US" sz="2800" dirty="0"/>
            </a:br>
            <a:r>
              <a:rPr lang="en-US" sz="2800" dirty="0"/>
              <a:t>• Simply asking models to “reason more” was not sufficient</a:t>
            </a:r>
            <a:br>
              <a:rPr lang="en-US" sz="2800" dirty="0"/>
            </a:br>
            <a:r>
              <a:rPr lang="en-US" sz="2800" dirty="0"/>
              <a:t>• Constraint-Aware State Verification (CASV) prompting looked a bit similar to  </a:t>
            </a:r>
            <a:r>
              <a:rPr lang="en-US" sz="2800" dirty="0" err="1"/>
              <a:t>AlphaGeometry’s</a:t>
            </a:r>
            <a:r>
              <a:rPr lang="en-US" sz="2800" dirty="0"/>
              <a:t> symbolic checks</a:t>
            </a:r>
            <a:br>
              <a:rPr lang="en-US" sz="2800" dirty="0"/>
            </a:br>
            <a:r>
              <a:rPr lang="en-US" sz="2800" dirty="0"/>
              <a:t>• Both approaches enforce validity at every step before moving forward</a:t>
            </a:r>
            <a:br>
              <a:rPr lang="en-US" sz="2800" dirty="0"/>
            </a:br>
            <a:r>
              <a:rPr lang="en-US" sz="2800" dirty="0"/>
              <a:t>• The key lesson is that reasoning improves significantly when every action is explicitly verified</a:t>
            </a:r>
          </a:p>
        </p:txBody>
      </p:sp>
    </p:spTree>
    <p:extLst>
      <p:ext uri="{BB962C8B-B14F-4D97-AF65-F5344CB8AC3E}">
        <p14:creationId xmlns:p14="http://schemas.microsoft.com/office/powerpoint/2010/main" val="1710523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86508-AE23-1EF8-07DC-5D1D2974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C89F53-5074-4FA6-66E1-EAF6693BEDF8}"/>
              </a:ext>
            </a:extLst>
          </p:cNvPr>
          <p:cNvSpPr/>
          <p:nvPr/>
        </p:nvSpPr>
        <p:spPr>
          <a:xfrm>
            <a:off x="4828336" y="141770"/>
            <a:ext cx="333540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IN" sz="3600" b="1" dirty="0"/>
              <a:t>Final Takeaway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83287F-A6FF-0729-1FDB-2334136FFC9F}"/>
              </a:ext>
            </a:extLst>
          </p:cNvPr>
          <p:cNvSpPr/>
          <p:nvPr/>
        </p:nvSpPr>
        <p:spPr>
          <a:xfrm>
            <a:off x="160451" y="761183"/>
            <a:ext cx="6725091" cy="61247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dirty="0"/>
              <a:t>• </a:t>
            </a:r>
            <a:r>
              <a:rPr lang="en-US" sz="2800" dirty="0" err="1"/>
              <a:t>AlphaGeometry</a:t>
            </a:r>
            <a:r>
              <a:rPr lang="en-US" sz="2800" dirty="0"/>
              <a:t> demonstrates that strong reasoning does not come from larger models alone</a:t>
            </a:r>
            <a:br>
              <a:rPr lang="en-US" sz="2800" dirty="0"/>
            </a:br>
            <a:r>
              <a:rPr lang="en-US" sz="2800" dirty="0"/>
              <a:t>• Pure pattern matching is insufficient for tasks requiring strict correctness</a:t>
            </a:r>
            <a:br>
              <a:rPr lang="en-US" sz="2800" dirty="0"/>
            </a:br>
            <a:r>
              <a:rPr lang="en-US" sz="2800" dirty="0"/>
              <a:t>• Combining creative proposal with hard constraints leads to more reliable reasoning</a:t>
            </a:r>
            <a:br>
              <a:rPr lang="en-US" sz="2800" dirty="0"/>
            </a:br>
            <a:r>
              <a:rPr lang="en-US" sz="2800" dirty="0"/>
              <a:t>• Verification plays a central role in preventing hallucination and invalid steps</a:t>
            </a:r>
            <a:br>
              <a:rPr lang="en-US" sz="2800" dirty="0"/>
            </a:br>
            <a:r>
              <a:rPr lang="en-US" sz="2800" dirty="0"/>
              <a:t>• This work suggests a promising direction for building future reasoning systems</a:t>
            </a:r>
            <a:br>
              <a:rPr lang="en-US" sz="2800" dirty="0"/>
            </a:br>
            <a:r>
              <a:rPr lang="en-US" sz="2800" dirty="0"/>
              <a:t>• True progress in AI reasoning lies in balancing intuition with constraint</a:t>
            </a:r>
          </a:p>
        </p:txBody>
      </p:sp>
      <p:pic>
        <p:nvPicPr>
          <p:cNvPr id="7" name="Picture 6" descr="A screenshot of a video&#10;&#10;AI-generated content may be incorrect.">
            <a:extLst>
              <a:ext uri="{FF2B5EF4-FFF2-40B4-BE49-F238E27FC236}">
                <a16:creationId xmlns:a16="http://schemas.microsoft.com/office/drawing/2014/main" id="{4D371D5F-E9C3-B644-0075-96DFE6662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648" y="788101"/>
            <a:ext cx="5254901" cy="577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020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Words>751</Words>
  <Application>Microsoft Office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Naveed Sajid</dc:creator>
  <cp:lastModifiedBy>Abdul Naveed Sajid</cp:lastModifiedBy>
  <cp:revision>2</cp:revision>
  <dcterms:created xsi:type="dcterms:W3CDTF">2025-12-25T11:47:31Z</dcterms:created>
  <dcterms:modified xsi:type="dcterms:W3CDTF">2025-12-25T13:41:43Z</dcterms:modified>
</cp:coreProperties>
</file>